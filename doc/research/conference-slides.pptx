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8" Type="http://schemas.openxmlformats.org/officeDocument/2006/relationships/viewProps" Target="viewProps.xml" /><Relationship Id="rId4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0" Type="http://schemas.openxmlformats.org/officeDocument/2006/relationships/tableStyles" Target="tableStyles.xml" /><Relationship Id="rId4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Production Go Tools with AI-Assisted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Case Study in ssql and autocli</a:t>
            </a:r>
            <a:br/>
            <a:br/>
            <a:r>
              <a:rPr/>
              <a:t>Ross Cartlidge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 Programming Conference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Coding Assistants: Promise vs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Promise:</a:t>
            </a:r>
            <a:r>
              <a:rPr/>
              <a:t> - Dramatically accelerate development - Handle tedious tasks - Generate boilerplate code</a:t>
            </a:r>
          </a:p>
          <a:p>
            <a:pPr lvl="0" indent="0" marL="0">
              <a:buNone/>
            </a:pPr>
            <a:r>
              <a:rPr b="1"/>
              <a:t>The Reality:</a:t>
            </a:r>
            <a:r>
              <a:rPr/>
              <a:t> - Context loss between sessions - Hallucinated APIs - Code sprawl and inconsistency - Silent regressions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Production Go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ssql</a:t>
            </a:r>
            <a:r>
              <a:rPr/>
              <a:t> (v4.0.0) - Stream Processing - SQL-style API using Go 1.23+ iterators - Unix pipeline CLI tool - Self-generating code (CLI to compiled Go)</a:t>
            </a:r>
          </a:p>
          <a:p>
            <a:pPr lvl="0" indent="0" marL="0">
              <a:buNone/>
            </a:pPr>
            <a:r>
              <a:rPr b="1"/>
              <a:t>autocli</a:t>
            </a:r>
            <a:r>
              <a:rPr/>
              <a:t> (v4.3.3) - CLI Framework - Fluent builder API - Intelligent bash completion - Field-aware suggestions from data files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By The Numbers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Statistics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 source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27,663 lines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6,305 lines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39,709 lines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releases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81,492 total lines</a:t>
            </a:r>
            <a:r>
              <a:rPr/>
              <a:t> over several months of collaboration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CLAUDE.md Methodology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Problem: AI Has No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process each conversation independently:</a:t>
            </a:r>
          </a:p>
          <a:p>
            <a:pPr lvl="0"/>
            <a:r>
              <a:rPr/>
              <a:t>Forgets architectural decisions</a:t>
            </a:r>
          </a:p>
          <a:p>
            <a:pPr lvl="0"/>
            <a:r>
              <a:rPr/>
              <a:t>Uses outdated patterns</a:t>
            </a:r>
          </a:p>
          <a:p>
            <a:pPr lvl="0"/>
            <a:r>
              <a:rPr/>
              <a:t>Doesn’t know your conventions</a:t>
            </a:r>
          </a:p>
          <a:p>
            <a:pPr lvl="0" indent="0" marL="0">
              <a:buNone/>
            </a:pPr>
            <a:r>
              <a:rPr b="1"/>
              <a:t>Solution:</a:t>
            </a:r>
            <a:r>
              <a:rPr/>
              <a:t> CLAUDE.md as persistent AI memory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CLAUDE.md Structure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Goes In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Architectural decisions</a:t>
            </a:r>
            <a:r>
              <a:rPr/>
              <a:t> with rationale</a:t>
            </a:r>
          </a:p>
          <a:p>
            <a:pPr lvl="0" indent="-342900" marL="342900">
              <a:buAutoNum type="arabicPeriod"/>
            </a:pPr>
            <a:r>
              <a:rPr b="1"/>
              <a:t>API conventions</a:t>
            </a:r>
            <a:r>
              <a:rPr/>
              <a:t> and naming patterns</a:t>
            </a:r>
          </a:p>
          <a:p>
            <a:pPr lvl="0" indent="-342900" marL="342900">
              <a:buAutoNum type="arabicPeriod"/>
            </a:pPr>
            <a:r>
              <a:rPr b="1"/>
              <a:t>Anti-patterns</a:t>
            </a:r>
            <a:r>
              <a:rPr/>
              <a:t> to avoid</a:t>
            </a:r>
          </a:p>
          <a:p>
            <a:pPr lvl="0" indent="-342900" marL="342900">
              <a:buAutoNum type="arabicPeriod"/>
            </a:pPr>
            <a:r>
              <a:rPr b="1"/>
              <a:t>Code examples</a:t>
            </a:r>
            <a:r>
              <a:rPr/>
              <a:t> of correct usage</a:t>
            </a:r>
          </a:p>
          <a:p>
            <a:pPr lvl="0" indent="-342900" marL="342900">
              <a:buAutoNum type="arabicPeriod"/>
            </a:pPr>
            <a:r>
              <a:rPr b="1"/>
              <a:t>Development principles</a:t>
            </a:r>
            <a:r>
              <a:rPr/>
              <a:t> learned from mistakes</a:t>
            </a:r>
          </a:p>
          <a:p>
            <a:pPr lvl="0" indent="0" marL="0">
              <a:buNone/>
            </a:pPr>
            <a:r>
              <a:rPr/>
              <a:t>ssql CLAUDE.md: </a:t>
            </a:r>
            <a:r>
              <a:rPr b="1"/>
              <a:t>1,407 lines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Principle #1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It’s Not Tested, It Will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Story:</a:t>
            </a:r>
            <a:r>
              <a:rPr/>
              <a:t> - Field completion worked for months - AI refactored the code in v3.2.0 - Feature silently disappeared - No test coverage = no detection</a:t>
            </a:r>
          </a:p>
          <a:p>
            <a:pPr lvl="0" indent="0" marL="0">
              <a:buNone/>
            </a:pPr>
            <a:r>
              <a:rPr b="1"/>
              <a:t>The Fix:</a:t>
            </a:r>
            <a:r>
              <a:rPr/>
              <a:t> - Added TestFieldCompletionConfiguration - Tests verify feature presence, not just correctness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Principle #2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Generated Code Readable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BAD: Inline complexity</a:t>
            </a:r>
          </a:p>
          <a:p>
            <a:pPr lvl="0" indent="0">
              <a:buNone/>
            </a:pPr>
            <a:r>
              <a:rPr>
                <a:latin typeface="Courier"/>
              </a:rPr>
              <a:t>result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ssql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LookupJoin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ssql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LookupClause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LeftField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RightField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FieldRenames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"x"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"y"</a:t>
            </a:r>
            <a:r>
              <a:rPr>
                <a:solidFill>
                  <a:srgbClr val="666666"/>
                </a:solidFill>
                <a:latin typeface="Courier"/>
              </a:rPr>
              <a:t>}},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})</a:t>
            </a:r>
          </a:p>
          <a:p>
            <a:pPr lvl="0" indent="0" marL="0">
              <a:buNone/>
            </a:pPr>
            <a:r>
              <a:rPr b="1"/>
              <a:t>GOOD: Helper functions</a:t>
            </a:r>
          </a:p>
          <a:p>
            <a:pPr lvl="0" indent="0">
              <a:buNone/>
            </a:pPr>
            <a:r>
              <a:rPr>
                <a:latin typeface="Courier"/>
              </a:rPr>
              <a:t>result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ssql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LookupJoin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ssql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LookupClause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Lookup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"x"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"y"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 Generation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 to Compiled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Prototype with CLI</a:t>
            </a:r>
            <a:br/>
            <a:r>
              <a:rPr>
                <a:latin typeface="Courier"/>
              </a:rPr>
              <a:t>ssql from data.csv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ssql where </a:t>
            </a:r>
            <a:r>
              <a:rPr>
                <a:solidFill>
                  <a:srgbClr val="7D9029"/>
                </a:solidFill>
                <a:latin typeface="Courier"/>
              </a:rPr>
              <a:t>-where</a:t>
            </a:r>
            <a:r>
              <a:rPr>
                <a:latin typeface="Courier"/>
              </a:rPr>
              <a:t> age gt 25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Generate production code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export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SSQLGO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1</a:t>
            </a:r>
            <a:br/>
            <a:r>
              <a:rPr>
                <a:latin typeface="Courier"/>
              </a:rPr>
              <a:t>ssql from data.csv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ssql where </a:t>
            </a:r>
            <a:r>
              <a:rPr>
                <a:solidFill>
                  <a:srgbClr val="7D9029"/>
                </a:solidFill>
                <a:latin typeface="Courier"/>
              </a:rPr>
              <a:t>-where</a:t>
            </a:r>
            <a:r>
              <a:rPr>
                <a:latin typeface="Courier"/>
              </a:rPr>
              <a:t> age gt 25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ssql generate-go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program.go</a:t>
            </a:r>
            <a:br/>
            <a:br/>
            <a:r>
              <a:rPr>
                <a:latin typeface="Courier"/>
              </a:rPr>
              <a:t>go build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program program.go</a:t>
            </a:r>
            <a:br/>
            <a:r>
              <a:rPr>
                <a:latin typeface="Courier"/>
              </a:rPr>
              <a:t>./program  </a:t>
            </a:r>
            <a:r>
              <a:rPr i="1">
                <a:solidFill>
                  <a:srgbClr val="60A0B0"/>
                </a:solidFill>
                <a:latin typeface="Courier"/>
              </a:rPr>
              <a:t># 2.6x faster!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Performance Results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Real-World Benchmark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Enriching 10M+ records with multiple joins: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Speedup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2m 15s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Generated Go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2.6x faster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Prototype fast, deploy faster.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Human-AI Workflow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Problem Definition</a:t>
            </a:r>
            <a:r>
              <a:rPr/>
              <a:t> (Human-Led)</a:t>
            </a:r>
          </a:p>
          <a:p>
            <a:pPr lvl="0" indent="-342900" marL="342900">
              <a:buAutoNum type="arabicPeriod"/>
            </a:pPr>
            <a:r>
              <a:rPr b="1"/>
              <a:t>Design Exploration</a:t>
            </a:r>
            <a:r>
              <a:rPr/>
              <a:t> (AI-Led, Human-Reviewed)</a:t>
            </a:r>
          </a:p>
          <a:p>
            <a:pPr lvl="0" indent="-342900" marL="342900">
              <a:buAutoNum type="arabicPeriod"/>
            </a:pPr>
            <a:r>
              <a:rPr b="1"/>
              <a:t>Implementation</a:t>
            </a:r>
            <a:r>
              <a:rPr/>
              <a:t> (AI-Led)</a:t>
            </a:r>
          </a:p>
          <a:p>
            <a:pPr lvl="0" indent="-342900" marL="342900">
              <a:buAutoNum type="arabicPeriod"/>
            </a:pPr>
            <a:r>
              <a:rPr b="1"/>
              <a:t>Review and Refinement</a:t>
            </a:r>
            <a:r>
              <a:rPr/>
              <a:t> (Human-Led)</a:t>
            </a:r>
          </a:p>
          <a:p>
            <a:pPr lvl="0" indent="-342900" marL="342900">
              <a:buAutoNum type="arabicPeriod"/>
            </a:pPr>
            <a:r>
              <a:rPr b="1"/>
              <a:t>Knowledge Capture</a:t>
            </a:r>
            <a:r>
              <a:rPr/>
              <a:t> (Both)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Quality Gates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Merging AI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All existing tests pass</a:t>
            </a:r>
          </a:p>
          <a:p>
            <a:pPr lvl="0"/>
            <a:r>
              <a:rPr/>
              <a:t>New tests for new features</a:t>
            </a:r>
          </a:p>
          <a:p>
            <a:pPr lvl="0"/>
            <a:r>
              <a:rPr/>
              <a:t>Code is readable (not over-abstracted)</a:t>
            </a:r>
          </a:p>
          <a:p>
            <a:pPr lvl="0"/>
            <a:r>
              <a:rPr/>
              <a:t>Documentation updated</a:t>
            </a:r>
          </a:p>
          <a:p>
            <a:pPr lvl="0"/>
            <a:r>
              <a:rPr/>
              <a:t>CLAUDE.md updated if patterns discovered</a:t>
            </a:r>
          </a:p>
          <a:p>
            <a:pPr lvl="0"/>
            <a:r>
              <a:rPr/>
              <a:t>Breaking changes documented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Worked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Successful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CLAUDE.md as AI memory</a:t>
            </a:r>
            <a:r>
              <a:rPr/>
              <a:t> - Essential for consistency</a:t>
            </a:r>
          </a:p>
          <a:p>
            <a:pPr lvl="0" indent="-342900" marL="342900">
              <a:buAutoNum type="arabicPeriod"/>
            </a:pPr>
            <a:r>
              <a:rPr b="1"/>
              <a:t>Test everything worth keeping</a:t>
            </a:r>
            <a:r>
              <a:rPr/>
              <a:t> - Prevents silent regressions</a:t>
            </a:r>
          </a:p>
          <a:p>
            <a:pPr lvl="0" indent="-342900" marL="342900">
              <a:buAutoNum type="arabicPeriod"/>
            </a:pPr>
            <a:r>
              <a:rPr b="1"/>
              <a:t>Helper functions</a:t>
            </a:r>
            <a:r>
              <a:rPr/>
              <a:t> - Keeps generated code clean</a:t>
            </a:r>
          </a:p>
          <a:p>
            <a:pPr lvl="0" indent="-342900" marL="342900">
              <a:buAutoNum type="arabicPeriod"/>
            </a:pPr>
            <a:r>
              <a:rPr b="1"/>
              <a:t>Human reviews architecture</a:t>
            </a:r>
            <a:r>
              <a:rPr/>
              <a:t> - AI implements</a:t>
            </a:r>
          </a:p>
          <a:p>
            <a:pPr lvl="0" indent="-342900" marL="342900">
              <a:buAutoNum type="arabicPeriod"/>
            </a:pPr>
            <a:r>
              <a:rPr b="1"/>
              <a:t>Anti-pattern documentation</a:t>
            </a:r>
            <a:r>
              <a:rPr/>
              <a:t> - Prevents repeated mistakes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Didn’t Work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Trusting AI “improvements”</a:t>
            </a:r>
            <a:r>
              <a:rPr/>
              <a:t> - Always verify</a:t>
            </a:r>
          </a:p>
          <a:p>
            <a:pPr lvl="0" indent="-342900" marL="342900">
              <a:buAutoNum type="arabicPeriod"/>
            </a:pPr>
            <a:r>
              <a:rPr b="1"/>
              <a:t>Complex inline generation</a:t>
            </a:r>
            <a:r>
              <a:rPr/>
              <a:t> - Became unreadable</a:t>
            </a:r>
          </a:p>
          <a:p>
            <a:pPr lvl="0" indent="-342900" marL="342900">
              <a:buAutoNum type="arabicPeriod"/>
            </a:pPr>
            <a:r>
              <a:rPr b="1"/>
              <a:t>Missing context</a:t>
            </a:r>
            <a:r>
              <a:rPr/>
              <a:t> - Inconsistent choices</a:t>
            </a:r>
          </a:p>
          <a:p>
            <a:pPr lvl="0" indent="-342900" marL="342900">
              <a:buAutoNum type="arabicPeriod"/>
            </a:pPr>
            <a:r>
              <a:rPr b="1"/>
              <a:t>Skipping tests</a:t>
            </a:r>
            <a:r>
              <a:rPr/>
              <a:t> - Silent regressions</a:t>
            </a:r>
          </a:p>
          <a:p>
            <a:pPr lvl="0" indent="-342900" marL="342900">
              <a:buAutoNum type="arabicPeriod"/>
            </a:pPr>
            <a:r>
              <a:rPr b="1"/>
              <a:t>Over-abstraction</a:t>
            </a:r>
            <a:r>
              <a:rPr/>
              <a:t> - AI tends to over-engineer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Multi-Clause Joins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Old: Reads kind.csv TWICE</a:t>
            </a:r>
            <a:br/>
            <a:r>
              <a:rPr>
                <a:latin typeface="Courier"/>
              </a:rPr>
              <a:t>ssql join </a:t>
            </a:r>
            <a:r>
              <a:rPr>
                <a:solidFill>
                  <a:srgbClr val="666666"/>
                </a:solidFill>
                <a:latin typeface="Courier"/>
              </a:rPr>
              <a:t>&lt;(</a:t>
            </a:r>
            <a:r>
              <a:rPr>
                <a:latin typeface="Courier"/>
              </a:rPr>
              <a:t>ssql from kind.csv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-on</a:t>
            </a:r>
            <a:r>
              <a:rPr>
                <a:latin typeface="Courier"/>
              </a:rPr>
              <a:t> a_kind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br/>
            <a:r>
              <a:rPr>
                <a:latin typeface="Courier"/>
              </a:rPr>
              <a:t>ssql join </a:t>
            </a:r>
            <a:r>
              <a:rPr>
                <a:solidFill>
                  <a:srgbClr val="666666"/>
                </a:solidFill>
                <a:latin typeface="Courier"/>
              </a:rPr>
              <a:t>&lt;(</a:t>
            </a:r>
            <a:r>
              <a:rPr>
                <a:latin typeface="Courier"/>
              </a:rPr>
              <a:t>ssql from kind.csv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-on</a:t>
            </a:r>
            <a:r>
              <a:rPr>
                <a:latin typeface="Courier"/>
              </a:rPr>
              <a:t> z_kind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New: Reads kind.csv ONCE</a:t>
            </a:r>
            <a:br/>
            <a:r>
              <a:rPr>
                <a:latin typeface="Courier"/>
              </a:rPr>
              <a:t>ssql join </a:t>
            </a:r>
            <a:r>
              <a:rPr>
                <a:solidFill>
                  <a:srgbClr val="666666"/>
                </a:solidFill>
                <a:latin typeface="Courier"/>
              </a:rPr>
              <a:t>&lt;(</a:t>
            </a:r>
            <a:r>
              <a:rPr>
                <a:latin typeface="Courier"/>
              </a:rPr>
              <a:t>ssql from kind.csv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-on</a:t>
            </a:r>
            <a:r>
              <a:rPr>
                <a:latin typeface="Courier"/>
              </a:rPr>
              <a:t> a_kind kind </a:t>
            </a:r>
            <a:r>
              <a:rPr>
                <a:solidFill>
                  <a:srgbClr val="7D9029"/>
                </a:solidFill>
                <a:latin typeface="Courier"/>
              </a:rPr>
              <a:t>-as</a:t>
            </a:r>
            <a:r>
              <a:rPr>
                <a:latin typeface="Courier"/>
              </a:rPr>
              <a:t> kind_name a_kind_name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-on</a:t>
            </a:r>
            <a:r>
              <a:rPr>
                <a:latin typeface="Courier"/>
              </a:rPr>
              <a:t> z_kind kind </a:t>
            </a:r>
            <a:r>
              <a:rPr>
                <a:solidFill>
                  <a:srgbClr val="7D9029"/>
                </a:solidFill>
                <a:latin typeface="Courier"/>
              </a:rPr>
              <a:t>-as</a:t>
            </a:r>
            <a:r>
              <a:rPr>
                <a:latin typeface="Courier"/>
              </a:rPr>
              <a:t> kind_name z_kind_name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25% faster, cleaner syntax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AI Self-Improvement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hallucinate wrong APIs: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WRONG - this API doesn't exist!</a:t>
            </a:r>
            <a:br/>
            <a:r>
              <a:rPr>
                <a:latin typeface="Courier"/>
              </a:rPr>
              <a:t>ssql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GroupByFields</a:t>
            </a:r>
            <a:r>
              <a:rPr>
                <a:solidFill>
                  <a:srgbClr val="666666"/>
                </a:solidFill>
                <a:latin typeface="Courier"/>
              </a:rPr>
              <a:t>([]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"dept"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ssql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Aggregation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ssql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"count"</a:t>
            </a:r>
            <a:r>
              <a:rPr>
                <a:solidFill>
                  <a:srgbClr val="666666"/>
                </a:solidFill>
                <a:latin typeface="Courier"/>
              </a:rPr>
              <a:t>)})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Added anti-patterns to AI prompt: - Document exact wrong code - Show correct alternative - AI learns from its mistakes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Development Principles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Document everything in CLAUDE.md</a:t>
            </a:r>
          </a:p>
          <a:p>
            <a:pPr lvl="0" indent="-342900" marL="342900">
              <a:buAutoNum type="arabicPeriod"/>
            </a:pPr>
            <a:r>
              <a:rPr/>
              <a:t>Test everything you want to keep</a:t>
            </a:r>
          </a:p>
          <a:p>
            <a:pPr lvl="0" indent="-342900" marL="342900">
              <a:buAutoNum type="arabicPeriod"/>
            </a:pPr>
            <a:r>
              <a:rPr/>
              <a:t>Prefer compile-time type safety</a:t>
            </a:r>
          </a:p>
          <a:p>
            <a:pPr lvl="0" indent="-342900" marL="342900">
              <a:buAutoNum type="arabicPeriod"/>
            </a:pPr>
            <a:r>
              <a:rPr/>
              <a:t>Keep generated code simple and readable</a:t>
            </a:r>
          </a:p>
          <a:p>
            <a:pPr lvl="0" indent="-342900" marL="342900">
              <a:buAutoNum type="arabicPeriod"/>
            </a:pPr>
            <a:r>
              <a:rPr/>
              <a:t>Human reviews architecture, AI implements</a:t>
            </a:r>
          </a:p>
          <a:p>
            <a:pPr lvl="0" indent="-342900" marL="342900">
              <a:buAutoNum type="arabicPeriod"/>
            </a:pPr>
            <a:r>
              <a:rPr/>
              <a:t>Atomic changes with comprehensive commits</a:t>
            </a:r>
          </a:p>
          <a:p>
            <a:pPr lvl="0" indent="-342900" marL="342900">
              <a:buAutoNum type="arabicPeriod"/>
            </a:pPr>
            <a:r>
              <a:rPr/>
              <a:t>Update documentation alongside code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Augments, Not Replaces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Results:</a:t>
            </a:r>
            <a:r>
              <a:rPr/>
              <a:t> - 27,000+ lines of production Go code - 40,000+ lines of documentation - 2.6x performance improvement - Clean API evolution through 4 versions</a:t>
            </a:r>
          </a:p>
          <a:p>
            <a:pPr lvl="0" indent="0" marL="0">
              <a:buNone/>
            </a:pPr>
            <a:r>
              <a:rPr b="1"/>
              <a:t>The Key:</a:t>
            </a:r>
            <a:r>
              <a:rPr/>
              <a:t> Treat AI as a capable but forgetful collaborator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Human-AI Team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Each Brings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Human:</a:t>
            </a:r>
            <a:r>
              <a:rPr/>
              <a:t> - Architectural direction - Quality review - Business context - Final decisions</a:t>
            </a:r>
          </a:p>
          <a:p>
            <a:pPr lvl="0" indent="0" marL="0">
              <a:buNone/>
            </a:pPr>
            <a:r>
              <a:rPr b="1"/>
              <a:t>AI:</a:t>
            </a:r>
            <a:r>
              <a:rPr/>
              <a:t> - Fast implementation - Tedious tasks (40+ file updates) - Creative solutions - Comprehensive documentation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Repositories:</a:t>
            </a:r>
            <a:r>
              <a:rPr/>
              <a:t> - github.com/rosscartlidge/ssql - github.com/rosscartlidge/autocli</a:t>
            </a:r>
          </a:p>
          <a:p>
            <a:pPr lvl="0" indent="0" marL="0">
              <a:buNone/>
            </a:pPr>
            <a:r>
              <a:rPr b="1"/>
              <a:t>Key Files:</a:t>
            </a:r>
            <a:r>
              <a:rPr/>
              <a:t> - CLAUDE.md in each repo - doc/ai-human-guide.md - doc/ai-code-generation.md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Ross Cartlidge</a:t>
            </a:r>
          </a:p>
          <a:p>
            <a:pPr lvl="0"/>
            <a:r>
              <a:rPr/>
              <a:t>GitHub: @rosscartlidge</a:t>
            </a:r>
          </a:p>
          <a:p>
            <a:pPr lvl="0"/>
            <a:r>
              <a:rPr/>
              <a:t>ssql: github.com/rosscartlidge/ssql</a:t>
            </a:r>
          </a:p>
          <a:p>
            <a:pPr lvl="0"/>
            <a:r>
              <a:rPr/>
              <a:t>autocli: github.com/rosscartlidge/autocli</a:t>
            </a:r>
          </a:p>
          <a:p>
            <a:pPr lvl="0" indent="0" marL="0">
              <a:buNone/>
            </a:pPr>
            <a:r>
              <a:rPr i="1"/>
              <a:t>“This is not AI replacing developers—it’s AI augmenting them.”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Production Go Tools with AI-Assisted Development</dc:title>
  <dc:creator>Ross Cartlidge</dc:creator>
  <cp:keywords/>
  <dcterms:created xsi:type="dcterms:W3CDTF">2025-12-18T01:58:28Z</dcterms:created>
  <dcterms:modified xsi:type="dcterms:W3CDTF">2025-12-18T01:58:28Z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Go Programming Conference 2026</vt:lpwstr>
  </property>
  <property fmtid="{D5CDD505-2E9C-101B-9397-08002B2CF9AE}" pid="3" name="subtitle">
    <vt:lpwstr>A Case Study in ssql and autocli</vt:lpwstr>
  </property>
</Properties>
</file>